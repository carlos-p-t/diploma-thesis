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64" r:id="rId15"/>
    <p:sldId id="266" r:id="rId16"/>
    <p:sldId id="273" r:id="rId17"/>
    <p:sldId id="25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BB793-F949-41B0-9E3F-0A176016B0C4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F184C-EA36-451D-8109-691262B7F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02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F184C-EA36-451D-8109-691262B7F4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2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F184C-EA36-451D-8109-691262B7F4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00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F184C-EA36-451D-8109-691262B7F4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33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F184C-EA36-451D-8109-691262B7F4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4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F184C-EA36-451D-8109-691262B7F4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7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10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0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92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2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1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9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8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9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5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4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3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ED92C01-4CCA-4BEA-B3E6-ECE7F76E2632}" type="datetimeFigureOut">
              <a:rPr lang="en-US" smtClean="0"/>
              <a:t>16-May-24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8543578-4571-455E-9858-EC5DD94F6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2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rlos-p-t/diploma-thesis" TargetMode="External"/><Relationship Id="rId3" Type="http://schemas.openxmlformats.org/officeDocument/2006/relationships/hyperlink" Target="https://www.sciencedirect.com/science/article/pii/S136984782100245X" TargetMode="External"/><Relationship Id="rId7" Type="http://schemas.openxmlformats.org/officeDocument/2006/relationships/hyperlink" Target="https://pure.ulster.ac.uk/en/publications/billboard-detection-in-the-wild" TargetMode="External"/><Relationship Id="rId2" Type="http://schemas.openxmlformats.org/officeDocument/2006/relationships/hyperlink" Target="https://www.sciencedirect.com/science/article/pii/S096585641831063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access.thecvf.com/content_iccv_2017/html/Neuhold_The_Mapillary_Vistas_ICCV_2017_paper.html" TargetMode="External"/><Relationship Id="rId5" Type="http://schemas.openxmlformats.org/officeDocument/2006/relationships/hyperlink" Target="https://ieeexplore.ieee.org/abstract/document/10308914" TargetMode="External"/><Relationship Id="rId4" Type="http://schemas.openxmlformats.org/officeDocument/2006/relationships/hyperlink" Target="https://www.sciencedirect.com/science/article/pii/S00014575050021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87DE-F8B4-78D0-1929-30D117752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41" y="2330760"/>
            <a:ext cx="9500118" cy="1645920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the significance of outdoor Advertising using computer vision and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1D508-A7A6-E172-0905-0E8E1E41EF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Carlos Andres Pizarroso </a:t>
            </a:r>
            <a:r>
              <a:rPr lang="en-US" dirty="0" err="1"/>
              <a:t>Troncoso</a:t>
            </a:r>
            <a:endParaRPr lang="en-US" dirty="0"/>
          </a:p>
          <a:p>
            <a:r>
              <a:rPr lang="en-US" dirty="0"/>
              <a:t>Supervisor: </a:t>
            </a:r>
            <a:r>
              <a:rPr lang="en-US" dirty="0" err="1"/>
              <a:t>RNDr</a:t>
            </a:r>
            <a:r>
              <a:rPr lang="en-US" dirty="0"/>
              <a:t>. Zuzana Berger </a:t>
            </a:r>
            <a:r>
              <a:rPr lang="en-US" dirty="0" err="1"/>
              <a:t>Haladová</a:t>
            </a:r>
            <a:r>
              <a:rPr lang="en-US" dirty="0"/>
              <a:t>, PhD</a:t>
            </a:r>
          </a:p>
        </p:txBody>
      </p:sp>
    </p:spTree>
    <p:extLst>
      <p:ext uri="{BB962C8B-B14F-4D97-AF65-F5344CB8AC3E}">
        <p14:creationId xmlns:p14="http://schemas.microsoft.com/office/powerpoint/2010/main" val="203882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4F8A-A5A7-AB2A-116C-122E1E81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51CFA-D996-BE8C-42FC-080BD752AB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How long have you stared at the advertisement?</a:t>
            </a:r>
          </a:p>
          <a:p>
            <a:r>
              <a:rPr lang="en-US" dirty="0"/>
              <a:t>Impact of advertisement on drivers. </a:t>
            </a:r>
          </a:p>
          <a:p>
            <a:r>
              <a:rPr lang="en-US" dirty="0"/>
              <a:t>Contribution to road safety.</a:t>
            </a:r>
          </a:p>
          <a:p>
            <a:r>
              <a:rPr lang="en-US" dirty="0"/>
              <a:t>An application of Deep Learning in Computer Vision.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D249160-E43D-A8DC-4808-2088B13E2F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9140" y="2638425"/>
            <a:ext cx="4009870" cy="3101975"/>
          </a:xfrm>
        </p:spPr>
      </p:pic>
    </p:spTree>
    <p:extLst>
      <p:ext uri="{BB962C8B-B14F-4D97-AF65-F5344CB8AC3E}">
        <p14:creationId xmlns:p14="http://schemas.microsoft.com/office/powerpoint/2010/main" val="89401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A424-DF27-8D5B-3C39-29AABD33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5D8B58-CC2D-722B-40AA-22BE81076B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1150" y="2783713"/>
            <a:ext cx="4271963" cy="281139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87C37-F3C3-9E9E-560B-770DFB5498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Long-term goals: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Develop an automated system which evaluates road advertisement significance.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Object detection, tracking, deep learning. </a:t>
            </a:r>
          </a:p>
          <a:p>
            <a:r>
              <a:rPr lang="en-US" dirty="0"/>
              <a:t>Short-term goals: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Acquire fundamental knowledge on object detection and deep learning.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Train successfully an object detector that will be part of the final pipeline.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721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2A4C-3FED-BCFF-5E66-9BFA27F7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A92D4-FD8F-B90B-C71D-1A0CBA0940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BillboardLamac</a:t>
            </a:r>
            <a:r>
              <a:rPr lang="en-US" dirty="0"/>
              <a:t> Dataset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Existing dataset of 8 videos captured by eye tracker worn by 8 different drivers.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145 unique billboards with 155912 bounding boxes.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Annotated billboards with unique ID consistent in all videos.</a:t>
            </a:r>
          </a:p>
          <a:p>
            <a:r>
              <a:rPr lang="en-US" dirty="0"/>
              <a:t>Object detector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Train/validation/testing: 794/199/219 images.</a:t>
            </a:r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34525F-B630-3E8E-EABD-9CE95020DE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8888" y="2668764"/>
            <a:ext cx="4270375" cy="3041296"/>
          </a:xfrm>
        </p:spPr>
      </p:pic>
    </p:spTree>
    <p:extLst>
      <p:ext uri="{BB962C8B-B14F-4D97-AF65-F5344CB8AC3E}">
        <p14:creationId xmlns:p14="http://schemas.microsoft.com/office/powerpoint/2010/main" val="68795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2449-991F-07B5-7605-E3535414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dataset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09E721-C54C-9278-BCF3-1BF1262E62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1150" y="2874797"/>
            <a:ext cx="4271963" cy="262923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093B9-8270-4CA8-3EC2-14CE16FBF0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Mapillary</a:t>
            </a:r>
            <a:r>
              <a:rPr lang="en-US" dirty="0"/>
              <a:t> Vistas Dataset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Large scale street level image dataset.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25000 high-resolution images.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66 classes (billboards included).</a:t>
            </a:r>
          </a:p>
          <a:p>
            <a:r>
              <a:rPr lang="en-US" dirty="0"/>
              <a:t>Object detector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Images without billboards filtered.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Train/validation/testing: 2000/500/500 images.</a:t>
            </a:r>
          </a:p>
        </p:txBody>
      </p:sp>
    </p:spTree>
    <p:extLst>
      <p:ext uri="{BB962C8B-B14F-4D97-AF65-F5344CB8AC3E}">
        <p14:creationId xmlns:p14="http://schemas.microsoft.com/office/powerpoint/2010/main" val="175928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AD98-7084-F981-F4F8-7679F521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detection: yolo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2727-B3C3-C583-EDAF-FA0A91E465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You Only Look Once (YOLO):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Series of Convolutional Neural Network models designed for real-time object detection.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Developed on </a:t>
            </a:r>
            <a:r>
              <a:rPr lang="en-US" dirty="0" err="1"/>
              <a:t>PyTorch</a:t>
            </a:r>
            <a:r>
              <a:rPr lang="en-US" dirty="0"/>
              <a:t> framework.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Detection models pre-trained on COCO dataset.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Classification models pre-trained on ImageNet dataset.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2F7E00B-A571-5C0B-6340-B1B40ED323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8319" y="3172718"/>
            <a:ext cx="4270375" cy="256730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0ED7A-5F87-1115-52CA-8559BA95C8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8319" y="2432428"/>
            <a:ext cx="4270375" cy="74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7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92EFC-746B-AE47-AA55-A481EC8F7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401775"/>
          </a:xfrm>
        </p:spPr>
        <p:txBody>
          <a:bodyPr/>
          <a:lstStyle/>
          <a:p>
            <a:r>
              <a:rPr lang="en-US" dirty="0" err="1"/>
              <a:t>Mapillary</a:t>
            </a:r>
            <a:r>
              <a:rPr lang="en-US" dirty="0"/>
              <a:t> vistas test set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0675B5-4BA4-E392-C384-B90FB3030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401775"/>
          </a:xfrm>
        </p:spPr>
        <p:txBody>
          <a:bodyPr/>
          <a:lstStyle/>
          <a:p>
            <a:r>
              <a:rPr lang="en-US" dirty="0" err="1"/>
              <a:t>Billboardlamac</a:t>
            </a:r>
            <a:r>
              <a:rPr lang="en-US" dirty="0"/>
              <a:t> test 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F1913-5D41-EA0F-30BE-9515E787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results: 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28AADE4-8D5E-26BE-AF1F-648B1FACBE1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91343" y="2878806"/>
            <a:ext cx="5359115" cy="301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92349EFA-2341-9847-55DD-58E11CE077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988" y="2875229"/>
            <a:ext cx="5402669" cy="3014502"/>
          </a:xfrm>
        </p:spPr>
      </p:pic>
    </p:spTree>
    <p:extLst>
      <p:ext uri="{BB962C8B-B14F-4D97-AF65-F5344CB8AC3E}">
        <p14:creationId xmlns:p14="http://schemas.microsoft.com/office/powerpoint/2010/main" val="423914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92EFC-746B-AE47-AA55-A481EC8F7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401775"/>
          </a:xfrm>
        </p:spPr>
        <p:txBody>
          <a:bodyPr/>
          <a:lstStyle/>
          <a:p>
            <a:r>
              <a:rPr lang="en-US" dirty="0" err="1"/>
              <a:t>Mapillary</a:t>
            </a:r>
            <a:r>
              <a:rPr lang="en-US" dirty="0"/>
              <a:t> vistas test set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0675B5-4BA4-E392-C384-B90FB3030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401775"/>
          </a:xfrm>
        </p:spPr>
        <p:txBody>
          <a:bodyPr/>
          <a:lstStyle/>
          <a:p>
            <a:r>
              <a:rPr lang="en-US" dirty="0" err="1"/>
              <a:t>Billboardlamac</a:t>
            </a:r>
            <a:r>
              <a:rPr lang="en-US" dirty="0"/>
              <a:t> test 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F1913-5D41-EA0F-30BE-9515E787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results: 1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685F05-D2D2-C91A-1267-A6B7F2239A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128" y="2875229"/>
            <a:ext cx="5144114" cy="3085936"/>
          </a:xfr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95B341F-E6C8-4AB7-3449-6A803508F747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38314" y="2875229"/>
            <a:ext cx="5486109" cy="308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03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92EFC-746B-AE47-AA55-A481EC8F7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401775"/>
          </a:xfrm>
        </p:spPr>
        <p:txBody>
          <a:bodyPr/>
          <a:lstStyle/>
          <a:p>
            <a:r>
              <a:rPr lang="en-US" dirty="0" err="1"/>
              <a:t>Mapillary</a:t>
            </a:r>
            <a:r>
              <a:rPr lang="en-US" dirty="0"/>
              <a:t> vistas test set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0675B5-4BA4-E392-C384-B90FB3030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401775"/>
          </a:xfrm>
        </p:spPr>
        <p:txBody>
          <a:bodyPr/>
          <a:lstStyle/>
          <a:p>
            <a:r>
              <a:rPr lang="en-US" dirty="0" err="1"/>
              <a:t>Billboardlamac</a:t>
            </a:r>
            <a:r>
              <a:rPr lang="en-US" dirty="0"/>
              <a:t> test 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F1913-5D41-EA0F-30BE-9515E787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results: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5965DB-090C-30B5-340E-E7DF2B8187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441" y="2875229"/>
            <a:ext cx="5306799" cy="3018078"/>
          </a:xfr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4BC1DD3-2A9B-84EC-C09C-E009B55DA82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38316" y="2875229"/>
            <a:ext cx="5365474" cy="30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68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92EFC-746B-AE47-AA55-A481EC8F7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401775"/>
          </a:xfrm>
        </p:spPr>
        <p:txBody>
          <a:bodyPr/>
          <a:lstStyle/>
          <a:p>
            <a:r>
              <a:rPr lang="en-US" dirty="0" err="1"/>
              <a:t>Mapillary</a:t>
            </a:r>
            <a:r>
              <a:rPr lang="en-US" dirty="0"/>
              <a:t> vistas test set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0675B5-4BA4-E392-C384-B90FB3030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401775"/>
          </a:xfrm>
        </p:spPr>
        <p:txBody>
          <a:bodyPr/>
          <a:lstStyle/>
          <a:p>
            <a:r>
              <a:rPr lang="en-US" dirty="0" err="1"/>
              <a:t>Billboardlamac</a:t>
            </a:r>
            <a:r>
              <a:rPr lang="en-US" dirty="0"/>
              <a:t> test 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F1913-5D41-EA0F-30BE-9515E787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results: 3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BB358E-7B40-BB36-1A21-A700B3B697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661" y="2875228"/>
            <a:ext cx="5405580" cy="3018079"/>
          </a:xfr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C7EE0307-234D-138B-3771-D9ECD9C05A6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38316" y="2875229"/>
            <a:ext cx="5365474" cy="30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667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92EFC-746B-AE47-AA55-A481EC8F7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401775"/>
          </a:xfrm>
        </p:spPr>
        <p:txBody>
          <a:bodyPr/>
          <a:lstStyle/>
          <a:p>
            <a:r>
              <a:rPr lang="en-US" dirty="0" err="1"/>
              <a:t>Mapillary</a:t>
            </a:r>
            <a:r>
              <a:rPr lang="en-US" dirty="0"/>
              <a:t> vistas test set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0675B5-4BA4-E392-C384-B90FB3030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401775"/>
          </a:xfrm>
        </p:spPr>
        <p:txBody>
          <a:bodyPr/>
          <a:lstStyle/>
          <a:p>
            <a:r>
              <a:rPr lang="en-US" dirty="0" err="1"/>
              <a:t>Billboardlamac</a:t>
            </a:r>
            <a:r>
              <a:rPr lang="en-US" dirty="0"/>
              <a:t> test 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F1913-5D41-EA0F-30BE-9515E787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results: 4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F46D0A-95A0-313E-A3E0-5C0C91A357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859" y="2875228"/>
            <a:ext cx="5391127" cy="3018079"/>
          </a:xfr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EE4A28DD-0709-B2DF-BCD4-31E070F61CA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38316" y="2875229"/>
            <a:ext cx="5365474" cy="30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11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92EFC-746B-AE47-AA55-A481EC8F7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401775"/>
          </a:xfrm>
        </p:spPr>
        <p:txBody>
          <a:bodyPr/>
          <a:lstStyle/>
          <a:p>
            <a:r>
              <a:rPr lang="en-US" dirty="0" err="1"/>
              <a:t>Mapillary</a:t>
            </a:r>
            <a:r>
              <a:rPr lang="en-US" dirty="0"/>
              <a:t> vistas test set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0675B5-4BA4-E392-C384-B90FB3030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401775"/>
          </a:xfrm>
        </p:spPr>
        <p:txBody>
          <a:bodyPr/>
          <a:lstStyle/>
          <a:p>
            <a:r>
              <a:rPr lang="en-US" dirty="0" err="1"/>
              <a:t>Billboardlamac</a:t>
            </a:r>
            <a:r>
              <a:rPr lang="en-US" dirty="0"/>
              <a:t> test 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F1913-5D41-EA0F-30BE-9515E787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results: 5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8173D30-CEA6-52F9-C9E7-116F83EC13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941" y="2875229"/>
            <a:ext cx="5205300" cy="3018079"/>
          </a:xfr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73791AB7-A004-0E45-C80D-F10C12C1627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38316" y="2875229"/>
            <a:ext cx="5365474" cy="30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76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FB4EA7-74F7-7366-345E-28AC58E6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 results: 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058BA-13A8-6C10-E134-F2414D44F1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D8D1983-0A5D-388F-EB04-16C0E6BC2B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Previous models used a batch size of 16.</a:t>
            </a:r>
          </a:p>
          <a:p>
            <a:r>
              <a:rPr lang="en-US" dirty="0"/>
              <a:t>It is expected that different batch sizes will affect training.</a:t>
            </a:r>
          </a:p>
          <a:p>
            <a:r>
              <a:rPr lang="en-US" dirty="0"/>
              <a:t>Google Cloud resources constraints.</a:t>
            </a:r>
          </a:p>
          <a:p>
            <a:endParaRPr lang="en-US" dirty="0"/>
          </a:p>
        </p:txBody>
      </p:sp>
      <p:pic>
        <p:nvPicPr>
          <p:cNvPr id="16" name="Content Placeholder 12">
            <a:extLst>
              <a:ext uri="{FF2B5EF4-FFF2-40B4-BE49-F238E27FC236}">
                <a16:creationId xmlns:a16="http://schemas.microsoft.com/office/drawing/2014/main" id="{343FEAD7-882F-6859-6972-090DB46D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17" y="3865869"/>
            <a:ext cx="5507482" cy="6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2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C019-1DE2-D333-7312-9DE52F303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2AE8-9F5B-C4E4-C6B0-76C539CB69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Difficulties with local training.</a:t>
            </a:r>
          </a:p>
          <a:p>
            <a:r>
              <a:rPr lang="en-US" dirty="0"/>
              <a:t>Online resources constraints.</a:t>
            </a:r>
          </a:p>
          <a:p>
            <a:r>
              <a:rPr lang="en-US" dirty="0"/>
              <a:t>Availability of online resources.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C6C141C-0F61-B332-87BE-BDF888C8FC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8319" y="2348616"/>
            <a:ext cx="4270375" cy="143648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794573-49F0-CF7A-80A3-0BB4E61FF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242" y="3980307"/>
            <a:ext cx="5212080" cy="1028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67BD0A-48C2-A114-79F7-A5BDEB561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2792" y="5204211"/>
            <a:ext cx="4792980" cy="13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66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7187-B3E5-2DCC-1814-31926C56B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BBC6D3-F07B-ED42-6C73-B162FAD75A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1150" y="2866426"/>
            <a:ext cx="4271963" cy="264597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6AB50-EFD5-6057-7146-F425FF6A64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Increase dataset size (depends on resources limitation).</a:t>
            </a:r>
          </a:p>
          <a:p>
            <a:r>
              <a:rPr lang="en-US" dirty="0"/>
              <a:t>Hyperparameter tunning.</a:t>
            </a:r>
          </a:p>
          <a:p>
            <a:r>
              <a:rPr lang="en-US" dirty="0"/>
              <a:t>Build a classifier (deep learning based).</a:t>
            </a:r>
          </a:p>
          <a:p>
            <a:r>
              <a:rPr lang="en-US" dirty="0"/>
              <a:t>Assemble the full pipeline.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31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B9478A-D7C7-A631-3590-9C6D4729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F48E3-2D9D-27C3-8879-494659F6F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5659192"/>
            <a:ext cx="7729728" cy="46823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And don’t get distracted while driving!</a:t>
            </a:r>
          </a:p>
        </p:txBody>
      </p:sp>
      <p:pic>
        <p:nvPicPr>
          <p:cNvPr id="7170" name="Picture 2" descr="Funny Billboards 2024">
            <a:extLst>
              <a:ext uri="{FF2B5EF4-FFF2-40B4-BE49-F238E27FC236}">
                <a16:creationId xmlns:a16="http://schemas.microsoft.com/office/drawing/2014/main" id="{EC0ED817-E383-47BE-24C1-AAB0F7C89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1633" y="2455604"/>
            <a:ext cx="5588733" cy="312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80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9350-EFAC-69D8-A1AD-C6C7A66E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articles &amp; GitHub site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390D9-C1B8-8BC8-956D-D40B3F627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76669"/>
            <a:ext cx="7729728" cy="39188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Articles:</a:t>
            </a:r>
          </a:p>
          <a:p>
            <a:r>
              <a:rPr lang="en-US" dirty="0">
                <a:hlinkClick r:id="rId2"/>
              </a:rPr>
              <a:t>https://www.sciencedirect.com/science/article/pii/S0965856418310632</a:t>
            </a:r>
            <a:endParaRPr lang="en-US" dirty="0"/>
          </a:p>
          <a:p>
            <a:r>
              <a:rPr lang="en-US" dirty="0">
                <a:hlinkClick r:id="rId3"/>
              </a:rPr>
              <a:t>https://www.sciencedirect.com/science/article/pii/S136984782100245X</a:t>
            </a:r>
            <a:endParaRPr lang="en-US" dirty="0"/>
          </a:p>
          <a:p>
            <a:r>
              <a:rPr lang="en-US" dirty="0">
                <a:hlinkClick r:id="rId4"/>
              </a:rPr>
              <a:t>https://www.sciencedirect.com/science/article/pii/S0001457505002149</a:t>
            </a:r>
            <a:endParaRPr lang="en-US" dirty="0"/>
          </a:p>
          <a:p>
            <a:r>
              <a:rPr lang="en-US" dirty="0">
                <a:hlinkClick r:id="rId5"/>
              </a:rPr>
              <a:t>https://ieeexplore.ieee.org/abstract/document/10308914</a:t>
            </a:r>
            <a:endParaRPr lang="en-US" dirty="0"/>
          </a:p>
          <a:p>
            <a:r>
              <a:rPr lang="en-US" dirty="0">
                <a:hlinkClick r:id="rId6"/>
              </a:rPr>
              <a:t>https://openaccess.thecvf.com/content_iccv_2017/html/Neuhold_The_Mapillary_Vistas_ICCV_2017_paper.html</a:t>
            </a:r>
            <a:endParaRPr lang="en-US" dirty="0"/>
          </a:p>
          <a:p>
            <a:r>
              <a:rPr lang="en-US" dirty="0">
                <a:hlinkClick r:id="rId7"/>
              </a:rPr>
              <a:t>https://pure.ulster.ac.uk/en/publications/billboard-detection-in-the-wild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GitHub site:</a:t>
            </a:r>
          </a:p>
          <a:p>
            <a:r>
              <a:rPr lang="en-US">
                <a:hlinkClick r:id="rId8"/>
              </a:rPr>
              <a:t>https://github.com/carlos-p-t/diploma-thesis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8836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922</TotalTime>
  <Words>515</Words>
  <Application>Microsoft Office PowerPoint</Application>
  <PresentationFormat>Widescreen</PresentationFormat>
  <Paragraphs>91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Gill Sans MT</vt:lpstr>
      <vt:lpstr>Wingdings</vt:lpstr>
      <vt:lpstr>Parcel</vt:lpstr>
      <vt:lpstr>Evaluating the significance of outdoor Advertising using computer vision and deep learning</vt:lpstr>
      <vt:lpstr>motivation</vt:lpstr>
      <vt:lpstr>goals</vt:lpstr>
      <vt:lpstr>Dataset</vt:lpstr>
      <vt:lpstr>Supplementary dataset </vt:lpstr>
      <vt:lpstr>Object detection: yolo</vt:lpstr>
      <vt:lpstr>Object detection results: 0</vt:lpstr>
      <vt:lpstr>Object detection results: 1</vt:lpstr>
      <vt:lpstr>Object detection results: 2</vt:lpstr>
      <vt:lpstr>Object detection results: 3</vt:lpstr>
      <vt:lpstr>Object detection results: 4</vt:lpstr>
      <vt:lpstr>Object detection results: 5</vt:lpstr>
      <vt:lpstr>Object detection results: 6</vt:lpstr>
      <vt:lpstr>challenges</vt:lpstr>
      <vt:lpstr>Next steps</vt:lpstr>
      <vt:lpstr>Thank you for your attention</vt:lpstr>
      <vt:lpstr>Scientific articles &amp; GitHub 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significance of outdoor Advertising using computer vision</dc:title>
  <dc:creator>Carlos A. Pizarroso</dc:creator>
  <cp:lastModifiedBy>Carlos A. Pizarroso</cp:lastModifiedBy>
  <cp:revision>10</cp:revision>
  <dcterms:created xsi:type="dcterms:W3CDTF">2024-05-13T21:16:22Z</dcterms:created>
  <dcterms:modified xsi:type="dcterms:W3CDTF">2024-05-16T19:17:59Z</dcterms:modified>
</cp:coreProperties>
</file>